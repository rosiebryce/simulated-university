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3CA6"/>
                </a:solidFill>
                <a:latin typeface="Comic Sans MS"/>
              </a:defRPr>
            </a:pPr>
            <a:r>
              <a:t>Welcome to EDUCATION at Stonegrove!!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66CC"/>
                </a:solidFill>
                <a:latin typeface="Jokerman"/>
              </a:defRPr>
            </a:pPr>
            <a:r>
              <a:t>Open Day, Saturday 14 June 1053. Jaskel Doodlehook, Senior Lecturer. Look for the pencil tree!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Impact"/>
              </a:defRPr>
            </a:pPr>
            <a:r>
              <a:t>Who we 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Three programmes, one department, one tree</a:t>
            </a:r>
          </a:p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Staff who know your name</a:t>
            </a:r>
          </a:p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Students who smile (ask them!)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Papyrus"/>
              </a:defRPr>
            </a:pPr>
            <a:r>
              <a:t>Education Studies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Papyrus"/>
              </a:defRPr>
            </a:pPr>
            <a:r>
              <a:t>• Two years</a:t>
            </a:r>
          </a:p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How people learn, how schools shape that</a:t>
            </a:r>
          </a:p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Placements both years!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Curlz MT"/>
              </a:defRPr>
            </a:pPr>
            <a:r>
              <a:t>Educational Mentorship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Two years</a:t>
            </a:r>
          </a:p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One to one and small group support</a:t>
            </a:r>
          </a:p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Supervised mentoring placement in Year 2!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Jokerman"/>
              </a:defRPr>
            </a:pPr>
            <a:r>
              <a:t>Intergenerational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Two years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Older and younger people learning together</a:t>
            </a:r>
          </a:p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The only one of its kind in the Vale!!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Segoe Script"/>
              </a:defRPr>
            </a:pPr>
            <a:r>
              <a:t>A typical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Two workshops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One seminar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One placement day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Zero boring lectures (almost)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Comic Sans MS"/>
              </a:defRPr>
            </a:pPr>
            <a:r>
              <a:t>Our placements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Schools!</a:t>
            </a:r>
          </a:p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Community projects!</a:t>
            </a:r>
          </a:p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Elder care centres!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Real settings, real learners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Impact"/>
              </a:defRPr>
            </a:pPr>
            <a:r>
              <a:t>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Essays, portfolios, presentations</a:t>
            </a:r>
          </a:p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Feedback within 15 working days (we promise, it is measured now!)</a:t>
            </a:r>
          </a:p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Three things done well, three things to do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Papyrus"/>
              </a:defRPr>
            </a:pPr>
            <a:r>
              <a:t>Feedback workshops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Comic Sans MS"/>
              </a:defRPr>
            </a:pPr>
            <a:r>
              <a:t>• Fortnightly from February</a:t>
            </a:r>
          </a:p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Bring your marked work</a:t>
            </a:r>
          </a:p>
          <a:p>
            <a:pPr lvl="1">
              <a:defRPr sz="1800">
                <a:solidFill>
                  <a:srgbClr val="0066CC"/>
                </a:solidFill>
                <a:latin typeface="Comic Sans MS"/>
              </a:defRPr>
            </a:pPr>
            <a:r>
              <a:t>• Leave knowing what to do next!!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Curlz MT"/>
              </a:defRPr>
            </a:pPr>
            <a:r>
              <a:t>Our staff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Dr Saelith Emberthorn, Head of Department (passionate!)</a:t>
            </a:r>
          </a:p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Jaskel Doodlehook (me!)</a:t>
            </a:r>
          </a:p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Fourteen others, all lovely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Jokerman"/>
              </a:defRPr>
            </a:pPr>
            <a:r>
              <a:t>Where you will be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Papyrus"/>
              </a:defRPr>
            </a:pPr>
            <a:r>
              <a:t>• The Cloister Block, first floor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The Oration Chamber for big sessions</a:t>
            </a:r>
          </a:p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The outdoor classroom when it is not raining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Segoe Script"/>
              </a:defRPr>
            </a:pPr>
            <a:r>
              <a:t>What students say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'The staff actually know my name'</a:t>
            </a:r>
          </a:p>
          <a:p>
            <a:pPr lvl="1">
              <a:defRPr sz="1800">
                <a:solidFill>
                  <a:srgbClr val="0066CC"/>
                </a:solidFill>
                <a:latin typeface="Papyrus"/>
              </a:defRPr>
            </a:pPr>
            <a:r>
              <a:t>• 'I came for the course and stayed for the pencil tree'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Comic Sans MS"/>
              </a:defRPr>
            </a:pPr>
            <a:r>
              <a:t>What students say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'Jaskel's workshops are the best thing about Tuesdays'</a:t>
            </a:r>
          </a:p>
          <a:p>
            <a:pPr lvl="1">
              <a:defRPr sz="1800">
                <a:solidFill>
                  <a:srgbClr val="0066CC"/>
                </a:solidFill>
                <a:latin typeface="Papyrus"/>
              </a:defRPr>
            </a:pPr>
            <a:r>
              <a:t>• 'Feedback used to be slow. It is getting better.' (honest!)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Impact"/>
              </a:defRPr>
            </a:pPr>
            <a:r>
              <a:t>Entry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Comic Sans MS"/>
              </a:defRPr>
            </a:pPr>
            <a:r>
              <a:t>• Standard University requirements</a:t>
            </a:r>
          </a:p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Contextual offers</a:t>
            </a:r>
          </a:p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Interview for Mentorship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First in your family? Many of us were!!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Papyrus"/>
              </a:defRPr>
            </a:pPr>
            <a:r>
              <a:t>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Personal tutor</a:t>
            </a:r>
          </a:p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Student Wellbeing (extension 2300)</a:t>
            </a:r>
          </a:p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Programme Support Team</a:t>
            </a:r>
          </a:p>
          <a:p>
            <a:pPr lvl="1">
              <a:defRPr sz="1800">
                <a:solidFill>
                  <a:srgbClr val="0066CC"/>
                </a:solidFill>
                <a:latin typeface="Papyrus"/>
              </a:defRPr>
            </a:pPr>
            <a:r>
              <a:t>• Us!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Curlz MT"/>
              </a:defRPr>
            </a:pPr>
            <a:r>
              <a:t>After graduation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Teacher training</a:t>
            </a:r>
          </a:p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Schools (non-teaching roles)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Community education</a:t>
            </a:r>
          </a:p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Youth work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Further study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Jokerman"/>
              </a:defRPr>
            </a:pPr>
            <a:r>
              <a:t>The pencil tree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Our friendly tree!</a:t>
            </a:r>
          </a:p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Made of pencils!</a:t>
            </a:r>
          </a:p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Find it on the Cloister Lawn today</a:t>
            </a:r>
          </a:p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(Communications are aware)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Segoe Script"/>
              </a:defRPr>
            </a:pPr>
            <a:r>
              <a:t>Our 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Comic Sans MS"/>
              </a:defRPr>
            </a:pPr>
            <a:r>
              <a:t>• Learning is something people do together</a:t>
            </a:r>
          </a:p>
          <a:p>
            <a:pPr lvl="1">
              <a:defRPr sz="1800">
                <a:solidFill>
                  <a:srgbClr val="0066CC"/>
                </a:solidFill>
                <a:latin typeface="Papyrus"/>
              </a:defRPr>
            </a:pPr>
            <a:r>
              <a:t>• Everyone can learn</a:t>
            </a:r>
          </a:p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Nobody learns when they are frightened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Comic Sans MS"/>
              </a:defRPr>
            </a:pPr>
            <a:r>
              <a:t>Year 1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Papyrus"/>
              </a:defRPr>
            </a:pPr>
            <a:r>
              <a:t>• Foundations of Learning</a:t>
            </a:r>
          </a:p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Child and Adolescent Development</a:t>
            </a:r>
          </a:p>
          <a:p>
            <a:pPr lvl="1">
              <a:defRPr sz="1800">
                <a:solidFill>
                  <a:srgbClr val="0066CC"/>
                </a:solidFill>
                <a:latin typeface="Comic Sans MS"/>
              </a:defRPr>
            </a:pPr>
            <a:r>
              <a:t>• Education and Society</a:t>
            </a:r>
          </a:p>
          <a:p>
            <a:pPr lvl="1">
              <a:defRPr sz="1800">
                <a:solidFill>
                  <a:srgbClr val="0066CC"/>
                </a:solidFill>
                <a:latin typeface="Papyrus"/>
              </a:defRPr>
            </a:pPr>
            <a:r>
              <a:t>• Placement 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Impact"/>
              </a:defRPr>
            </a:pPr>
            <a:r>
              <a:t>Year 2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Comic Sans MS"/>
              </a:defRPr>
            </a:pPr>
            <a:r>
              <a:t>• Pedagogy in Practice</a:t>
            </a:r>
          </a:p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Inclusion and Difference</a:t>
            </a:r>
          </a:p>
          <a:p>
            <a:pPr lvl="1">
              <a:defRPr sz="1800">
                <a:solidFill>
                  <a:srgbClr val="0066CC"/>
                </a:solidFill>
                <a:latin typeface="Papyrus"/>
              </a:defRPr>
            </a:pPr>
            <a:r>
              <a:t>• Research for Educators</a:t>
            </a:r>
          </a:p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Placement 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Papyrus"/>
              </a:defRPr>
            </a:pPr>
            <a:r>
              <a:t>Mentorship specialism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Mentoring Theory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The Mentoring Relationship</a:t>
            </a:r>
          </a:p>
          <a:p>
            <a:pPr lvl="1">
              <a:defRPr sz="1800">
                <a:solidFill>
                  <a:srgbClr val="0066CC"/>
                </a:solidFill>
                <a:latin typeface="Comic Sans MS"/>
              </a:defRPr>
            </a:pPr>
            <a:r>
              <a:t>• Supervised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Curlz MT"/>
              </a:defRPr>
            </a:pPr>
            <a:r>
              <a:t>Intergenerational specialism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Ageing and Learning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Designing Shared Settings</a:t>
            </a:r>
          </a:p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Community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Jokerman"/>
              </a:defRPr>
            </a:pPr>
            <a:r>
              <a:t>A day on placement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Arrive 08:30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Shadow, support, observe</a:t>
            </a:r>
          </a:p>
          <a:p>
            <a:pPr lvl="1">
              <a:defRPr sz="1800">
                <a:solidFill>
                  <a:srgbClr val="0066CC"/>
                </a:solidFill>
                <a:latin typeface="Papyrus"/>
              </a:defRPr>
            </a:pPr>
            <a:r>
              <a:t>• Reflect (we make you, it works)</a:t>
            </a:r>
          </a:p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Home by 16:00!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Segoe Script"/>
              </a:defRPr>
            </a:pPr>
            <a:r>
              <a:t>Student stories: Ilyen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Rowan elf, first generation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Education Studies</a:t>
            </a:r>
          </a:p>
          <a:p>
            <a:pPr lvl="1">
              <a:defRPr sz="1800">
                <a:solidFill>
                  <a:srgbClr val="0066CC"/>
                </a:solidFill>
                <a:latin typeface="Comic Sans MS"/>
              </a:defRPr>
            </a:pPr>
            <a:r>
              <a:t>• Now a teaching assistant in Ashen Reach!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Comic Sans MS"/>
              </a:defRPr>
            </a:pPr>
            <a:r>
              <a:t>Student stories: Brann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Comic Sans MS"/>
              </a:defRPr>
            </a:pPr>
            <a:r>
              <a:t>• Flint dwarf, mature student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Mentorship</a:t>
            </a:r>
          </a:p>
          <a:p>
            <a:pPr lvl="1">
              <a:defRPr sz="1800">
                <a:solidFill>
                  <a:srgbClr val="0066CC"/>
                </a:solidFill>
                <a:latin typeface="Comic Sans MS"/>
              </a:defRPr>
            </a:pPr>
            <a:r>
              <a:t>• Now mentoring apprentices at the Forge!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Impact"/>
              </a:defRPr>
            </a:pPr>
            <a:r>
              <a:t>Fees and funding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See the main University stand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Bursaries for first generation students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Travel bursaries for distant placements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Papyrus"/>
              </a:defRPr>
            </a:pPr>
            <a:r>
              <a:t>Accommodation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See the main University stand</a:t>
            </a:r>
          </a:p>
          <a:p>
            <a:pPr lvl="1">
              <a:defRPr sz="1800">
                <a:solidFill>
                  <a:srgbClr val="0066CC"/>
                </a:solidFill>
                <a:latin typeface="Comic Sans MS"/>
              </a:defRPr>
            </a:pPr>
            <a:r>
              <a:t>• (I do not know about accommodation, sorry!)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Curlz MT"/>
              </a:defRPr>
            </a:pPr>
            <a:r>
              <a:t>Open day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10:00 Welcome (this!)</a:t>
            </a:r>
          </a:p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11:00 Taster workshop: how do you learn?</a:t>
            </a:r>
          </a:p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12:00 Meet the students</a:t>
            </a:r>
          </a:p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14:00 Campus tour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Jokerman"/>
              </a:defRPr>
            </a:pPr>
            <a:r>
              <a:t>Taster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Room C1.04</a:t>
            </a:r>
          </a:p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45 minutes</a:t>
            </a:r>
          </a:p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Bring a pencil (there is a theme)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Segoe Script"/>
              </a:defRPr>
            </a:pPr>
            <a:r>
              <a:t>Meet the students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Cloister Lawn, by the tree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Ask them anything</a:t>
            </a:r>
          </a:p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Especially about feedback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Comic Sans MS"/>
              </a:defRPr>
            </a:pPr>
            <a:r>
              <a:t>Questions we always get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Can I work part time? Yes, most do</a:t>
            </a:r>
          </a:p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Is there an exam? Some, not many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Do I need to drive? No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Impact"/>
              </a:defRPr>
            </a:pPr>
            <a:r>
              <a:t>Questions we always get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Comic Sans MS"/>
              </a:defRPr>
            </a:pPr>
            <a:r>
              <a:t>• What is the difference between the programmes? Come to the workshop!</a:t>
            </a:r>
          </a:p>
          <a:p>
            <a:pPr lvl="1">
              <a:defRPr sz="1800">
                <a:solidFill>
                  <a:srgbClr val="0066CC"/>
                </a:solidFill>
                <a:latin typeface="Papyrus"/>
              </a:defRPr>
            </a:pPr>
            <a:r>
              <a:t>• Will I get a job? Our graduates do</a:t>
            </a:r>
          </a:p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Is Jaskel always like this? Yes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Papyrus"/>
              </a:defRPr>
            </a:pPr>
            <a:r>
              <a:t>How to apply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Through the usual route</a:t>
            </a:r>
          </a:p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Deadline January</a:t>
            </a:r>
          </a:p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Interviews for Mentorship in February and March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Curlz MT"/>
              </a:defRPr>
            </a:pPr>
            <a:r>
              <a:t>What we are working 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Faster feedback (measured!)</a:t>
            </a:r>
          </a:p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Protected marking weeks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A feedback template</a:t>
            </a:r>
          </a:p>
          <a:p>
            <a:pPr lvl="1">
              <a:defRPr sz="1800">
                <a:solidFill>
                  <a:srgbClr val="0066CC"/>
                </a:solidFill>
                <a:latin typeface="Papyrus"/>
              </a:defRPr>
            </a:pPr>
            <a:r>
              <a:t>• More trees (joke) (mostly)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Jokerman"/>
              </a:defRPr>
            </a:pPr>
            <a:r>
              <a:t>Our promise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Comic Sans MS"/>
              </a:defRPr>
            </a:pPr>
            <a:r>
              <a:t>• You will be known</a:t>
            </a:r>
          </a:p>
          <a:p>
            <a:pPr lvl="1">
              <a:defRPr sz="1800">
                <a:solidFill>
                  <a:srgbClr val="0066CC"/>
                </a:solidFill>
                <a:latin typeface="Comic Sans MS"/>
              </a:defRPr>
            </a:pPr>
            <a:r>
              <a:t>• You will know what to do next</a:t>
            </a:r>
          </a:p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You will not be frightened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Segoe Script"/>
              </a:defRPr>
            </a:pPr>
            <a: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education@stonegrove.ac.example</a:t>
            </a:r>
          </a:p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Extension 4200 (Saelith) or 4215 (me!)</a:t>
            </a:r>
          </a:p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Stonegrove University (proper logo on the next slide, Rhialla)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Comic Sans MS"/>
              </a:defRPr>
            </a:pPr>
            <a:r>
              <a:t>Stonegrove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Papyrus"/>
              </a:defRPr>
            </a:pPr>
            <a:r>
              <a:t>• Set at the meeting of forest and mountain</a:t>
            </a:r>
          </a:p>
          <a:p>
            <a:pPr lvl="1">
              <a:defRPr sz="1800">
                <a:solidFill>
                  <a:srgbClr val="0066CC"/>
                </a:solidFill>
                <a:latin typeface="Papyrus"/>
              </a:defRPr>
            </a:pPr>
            <a:r>
              <a:t>• Elves and Dwarves learning together</a:t>
            </a:r>
          </a:p>
          <a:p>
            <a:pPr lvl="1">
              <a:defRPr sz="1800">
                <a:solidFill>
                  <a:srgbClr val="0066CC"/>
                </a:solidFill>
                <a:latin typeface="Papyrus"/>
              </a:defRPr>
            </a:pPr>
            <a:r>
              <a:t>• One University (and one small tree)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Impact"/>
              </a:defRPr>
            </a:pPr>
            <a:r>
              <a:t>Thank you!!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Enjoy the day</a:t>
            </a:r>
          </a:p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Find the tree</a:t>
            </a:r>
          </a:p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Smile at a student</a:t>
            </a:r>
          </a:p>
          <a:p>
            <a:pPr lvl="1">
              <a:defRPr sz="1800">
                <a:solidFill>
                  <a:srgbClr val="0066CC"/>
                </a:solidFill>
                <a:latin typeface="Comic Sans MS"/>
              </a:defRPr>
            </a:pPr>
            <a:r>
              <a:t>• Jaskel x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Papyrus"/>
              </a:defRPr>
            </a:pPr>
            <a:r>
              <a:t>Bonus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I had space</a:t>
            </a:r>
          </a:p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Here is a pencil fact: the average pencil can draw a line 35 miles long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Probably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Curlz MT"/>
              </a:defRPr>
            </a:pPr>
            <a:r>
              <a:t>Another bonus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The tree has 14 pencils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One for each clan!!</a:t>
            </a:r>
          </a:p>
          <a:p>
            <a:pPr lvl="1">
              <a:defRPr sz="1800">
                <a:solidFill>
                  <a:srgbClr val="0066CC"/>
                </a:solidFill>
                <a:latin typeface="Papyrus"/>
              </a:defRPr>
            </a:pPr>
            <a:r>
              <a:t>• (Communications are still aware)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Jokerman"/>
              </a:defRPr>
            </a:pPr>
            <a:r>
              <a:t>Really the last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Thank you</a:t>
            </a:r>
          </a:p>
          <a:p>
            <a:pPr lvl="1">
              <a:defRPr sz="1800">
                <a:solidFill>
                  <a:srgbClr val="0066CC"/>
                </a:solidFill>
                <a:latin typeface="Comic Sans MS"/>
              </a:defRPr>
            </a:pPr>
            <a:r>
              <a:t>• Yes, really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Jaskel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Segoe Script"/>
              </a:defRPr>
            </a:pPr>
            <a:r>
              <a:t>Appendix: the tree, explained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Trunk: the department</a:t>
            </a:r>
          </a:p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Pencils: the programmes and the clans</a:t>
            </a:r>
          </a:p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Leaves: you!!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 Day Education deck</dc:title>
  <dc:subject/>
  <dc:creator>Jaskel Doodlehook</dc:creator>
  <cp:keywords/>
  <dc:description>generated using python-pptx</dc:description>
  <cp:lastModifiedBy>Jaskel Doodlehook</cp:lastModifiedBy>
  <cp:revision>1</cp:revision>
  <dcterms:created xsi:type="dcterms:W3CDTF">2026-03-01T10:30:00Z</dcterms:created>
  <dcterms:modified xsi:type="dcterms:W3CDTF">2026-04-09T10:30:00Z</dcterms:modified>
  <cp:category/>
</cp:coreProperties>
</file>